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300788" cy="2160588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2" d="100"/>
          <a:sy n="232" d="100"/>
        </p:scale>
        <p:origin x="20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7599" y="353596"/>
            <a:ext cx="4725591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7599" y="1134809"/>
            <a:ext cx="4725591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38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28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97" y="538647"/>
            <a:ext cx="5434430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897" y="1445894"/>
            <a:ext cx="5434430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2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3179" y="575157"/>
            <a:ext cx="2677835" cy="13708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89774" y="575157"/>
            <a:ext cx="2677835" cy="13708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674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115031"/>
            <a:ext cx="5434430" cy="41761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4000" y="529645"/>
            <a:ext cx="2665528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4000" y="789215"/>
            <a:ext cx="2665528" cy="11608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89774" y="529645"/>
            <a:ext cx="2678656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89774" y="789215"/>
            <a:ext cx="2678656" cy="11608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33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89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287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144039"/>
            <a:ext cx="2032168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8656" y="311085"/>
            <a:ext cx="3189774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648176"/>
            <a:ext cx="2032168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5637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000" y="144039"/>
            <a:ext cx="2032168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8656" y="311085"/>
            <a:ext cx="3189774" cy="1535418"/>
          </a:xfr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4000" y="648176"/>
            <a:ext cx="2032168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58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83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09002" y="115032"/>
            <a:ext cx="1358607" cy="18309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3179" y="115032"/>
            <a:ext cx="3997062" cy="183099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29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3179" y="115031"/>
            <a:ext cx="5434430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3179" y="575157"/>
            <a:ext cx="5434430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33179" y="2002545"/>
            <a:ext cx="141767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7A5F9-F7D2-41BC-9F3A-ABCF20FEB1C8}" type="datetimeFigureOut">
              <a:rPr lang="fr-FR" smtClean="0"/>
              <a:t>27/05/2026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7136" y="2002545"/>
            <a:ext cx="212651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49932" y="2002545"/>
            <a:ext cx="1417677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CF201-CCF2-4128-A471-B40CC42C3B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6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88036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0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e 41">
            <a:extLst>
              <a:ext uri="{FF2B5EF4-FFF2-40B4-BE49-F238E27FC236}">
                <a16:creationId xmlns:a16="http://schemas.microsoft.com/office/drawing/2014/main" id="{B4494642-37CC-76FE-3D14-4E3B177261BA}"/>
              </a:ext>
            </a:extLst>
          </p:cNvPr>
          <p:cNvGrpSpPr/>
          <p:nvPr/>
        </p:nvGrpSpPr>
        <p:grpSpPr>
          <a:xfrm>
            <a:off x="266279" y="1281234"/>
            <a:ext cx="748030" cy="648513"/>
            <a:chOff x="746577" y="175269"/>
            <a:chExt cx="2971769" cy="2725342"/>
          </a:xfrm>
        </p:grpSpPr>
        <p:pic>
          <p:nvPicPr>
            <p:cNvPr id="36" name="Graphique 35">
              <a:extLst>
                <a:ext uri="{FF2B5EF4-FFF2-40B4-BE49-F238E27FC236}">
                  <a16:creationId xmlns:a16="http://schemas.microsoft.com/office/drawing/2014/main" id="{6C1723A2-88AF-1157-87F7-ACFD5CF10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1248" r="51611"/>
            <a:stretch/>
          </p:blipFill>
          <p:spPr>
            <a:xfrm>
              <a:off x="746577" y="175269"/>
              <a:ext cx="2971769" cy="2725342"/>
            </a:xfrm>
            <a:prstGeom prst="rect">
              <a:avLst/>
            </a:prstGeom>
          </p:spPr>
        </p:pic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29D244A0-B720-E5C4-39D4-E0E732139A0A}"/>
                </a:ext>
              </a:extLst>
            </p:cNvPr>
            <p:cNvSpPr txBox="1"/>
            <p:nvPr/>
          </p:nvSpPr>
          <p:spPr>
            <a:xfrm>
              <a:off x="1668162" y="202643"/>
              <a:ext cx="387253" cy="4842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B3E6BEA2-F12F-311A-C010-9840CAE40D50}"/>
                </a:ext>
              </a:extLst>
            </p:cNvPr>
            <p:cNvSpPr txBox="1"/>
            <p:nvPr/>
          </p:nvSpPr>
          <p:spPr>
            <a:xfrm>
              <a:off x="2530836" y="219030"/>
              <a:ext cx="387253" cy="4842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E8999873-018C-5055-9960-6A74359DF135}"/>
                </a:ext>
              </a:extLst>
            </p:cNvPr>
            <p:cNvSpPr txBox="1"/>
            <p:nvPr/>
          </p:nvSpPr>
          <p:spPr>
            <a:xfrm>
              <a:off x="2990571" y="195233"/>
              <a:ext cx="387253" cy="4842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549CA85E-0A80-AFC0-89C7-EF37DD675087}"/>
                </a:ext>
              </a:extLst>
            </p:cNvPr>
            <p:cNvSpPr txBox="1"/>
            <p:nvPr/>
          </p:nvSpPr>
          <p:spPr>
            <a:xfrm>
              <a:off x="3149306" y="2046367"/>
              <a:ext cx="569040" cy="4842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endParaRPr lang="fr-FR" dirty="0"/>
            </a:p>
          </p:txBody>
        </p:sp>
      </p:grpSp>
      <p:pic>
        <p:nvPicPr>
          <p:cNvPr id="5" name="Graphique 4">
            <a:extLst>
              <a:ext uri="{FF2B5EF4-FFF2-40B4-BE49-F238E27FC236}">
                <a16:creationId xmlns:a16="http://schemas.microsoft.com/office/drawing/2014/main" id="{84E941E5-9AC4-3AB4-F9FF-0A3F11F90D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672" r="5961" b="4198"/>
          <a:stretch/>
        </p:blipFill>
        <p:spPr>
          <a:xfrm>
            <a:off x="2714655" y="175270"/>
            <a:ext cx="3500794" cy="189602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51D829C-C660-B966-291A-B6774986B7B5}"/>
              </a:ext>
            </a:extLst>
          </p:cNvPr>
          <p:cNvSpPr txBox="1"/>
          <p:nvPr/>
        </p:nvSpPr>
        <p:spPr>
          <a:xfrm>
            <a:off x="2714655" y="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B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5D07C1-2352-C3AB-9A05-C499FC41A0E8}"/>
              </a:ext>
            </a:extLst>
          </p:cNvPr>
          <p:cNvSpPr txBox="1"/>
          <p:nvPr/>
        </p:nvSpPr>
        <p:spPr>
          <a:xfrm>
            <a:off x="0" y="-1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/>
              <a:t>A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2BD0735D-0A99-AF15-9A86-E82985488D2A}"/>
              </a:ext>
            </a:extLst>
          </p:cNvPr>
          <p:cNvCxnSpPr/>
          <p:nvPr/>
        </p:nvCxnSpPr>
        <p:spPr>
          <a:xfrm>
            <a:off x="832644" y="377737"/>
            <a:ext cx="1239795" cy="0"/>
          </a:xfrm>
          <a:prstGeom prst="straightConnector1">
            <a:avLst/>
          </a:prstGeom>
          <a:ln w="6350">
            <a:headEnd type="oval"/>
            <a:tailEnd type="oval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CC7013D9-BEAE-988F-4F2E-59D4D94FCC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4" y="147071"/>
            <a:ext cx="395428" cy="395428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E378144-78C8-7DBD-6D27-D82F2B423E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956" y="147071"/>
            <a:ext cx="395428" cy="395428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40599127-B9B5-C6CE-C9EE-1975C1FB703A}"/>
              </a:ext>
            </a:extLst>
          </p:cNvPr>
          <p:cNvSpPr txBox="1"/>
          <p:nvPr/>
        </p:nvSpPr>
        <p:spPr>
          <a:xfrm>
            <a:off x="748527" y="142133"/>
            <a:ext cx="13676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00" dirty="0"/>
              <a:t>Sub-maximal test (20 minutes)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99F0E1-1A38-7D07-E379-F1A3E353080A}"/>
              </a:ext>
            </a:extLst>
          </p:cNvPr>
          <p:cNvSpPr/>
          <p:nvPr/>
        </p:nvSpPr>
        <p:spPr>
          <a:xfrm>
            <a:off x="1174514" y="335728"/>
            <a:ext cx="247135" cy="82204"/>
          </a:xfrm>
          <a:prstGeom prst="rect">
            <a:avLst/>
          </a:prstGeom>
          <a:solidFill>
            <a:srgbClr val="C00000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E3C40DF-2EB6-1735-4A79-3E1CADC60C84}"/>
              </a:ext>
            </a:extLst>
          </p:cNvPr>
          <p:cNvCxnSpPr>
            <a:cxnSpLocks/>
          </p:cNvCxnSpPr>
          <p:nvPr/>
        </p:nvCxnSpPr>
        <p:spPr>
          <a:xfrm>
            <a:off x="639055" y="515125"/>
            <a:ext cx="0" cy="323538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16721BC8-D144-61D2-BFA4-29E5326D5985}"/>
              </a:ext>
            </a:extLst>
          </p:cNvPr>
          <p:cNvSpPr txBox="1"/>
          <p:nvPr/>
        </p:nvSpPr>
        <p:spPr>
          <a:xfrm>
            <a:off x="1231621" y="834128"/>
            <a:ext cx="1239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b="1" dirty="0"/>
              <a:t>Target   variable</a:t>
            </a:r>
          </a:p>
          <a:p>
            <a:pPr algn="ctr"/>
            <a:r>
              <a:rPr lang="en-GB" sz="600" b="1" dirty="0">
                <a:solidFill>
                  <a:srgbClr val="C00000"/>
                </a:solidFill>
              </a:rPr>
              <a:t>Maximal   Fat   Oxidation (MFO)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6CF4566-6A7B-A885-8028-5DEF8B2BD7AE}"/>
              </a:ext>
            </a:extLst>
          </p:cNvPr>
          <p:cNvSpPr txBox="1"/>
          <p:nvPr/>
        </p:nvSpPr>
        <p:spPr>
          <a:xfrm>
            <a:off x="21217" y="825630"/>
            <a:ext cx="1192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b="1" dirty="0">
                <a:ea typeface="Calibri" panose="020F0502020204030204" pitchFamily="34" charset="0"/>
              </a:rPr>
              <a:t>E</a:t>
            </a:r>
            <a:r>
              <a:rPr lang="en-GB" sz="600" b="1" dirty="0">
                <a:effectLst/>
                <a:ea typeface="Calibri" panose="020F0502020204030204" pitchFamily="34" charset="0"/>
              </a:rPr>
              <a:t>xplanatory</a:t>
            </a:r>
            <a:r>
              <a:rPr lang="en-GB" sz="600" b="1" dirty="0"/>
              <a:t>   variables</a:t>
            </a:r>
          </a:p>
          <a:p>
            <a:pPr algn="ctr"/>
            <a:r>
              <a:rPr lang="en-GB" sz="600" dirty="0"/>
              <a:t>Mid-infrared   Spectroscopy</a:t>
            </a:r>
          </a:p>
        </p:txBody>
      </p: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7EF09D23-49D5-F9C6-3FF7-5DAF8B0DE33B}"/>
              </a:ext>
            </a:extLst>
          </p:cNvPr>
          <p:cNvCxnSpPr>
            <a:cxnSpLocks/>
          </p:cNvCxnSpPr>
          <p:nvPr/>
        </p:nvCxnSpPr>
        <p:spPr>
          <a:xfrm>
            <a:off x="639055" y="1084883"/>
            <a:ext cx="0" cy="272334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4" name="Graphique 33" descr="Microscope avec un remplissage uni">
            <a:extLst>
              <a:ext uri="{FF2B5EF4-FFF2-40B4-BE49-F238E27FC236}">
                <a16:creationId xmlns:a16="http://schemas.microsoft.com/office/drawing/2014/main" id="{B04AAD65-A412-14AF-0999-1451208054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632" y="1546687"/>
            <a:ext cx="262029" cy="262029"/>
          </a:xfrm>
          <a:prstGeom prst="rect">
            <a:avLst/>
          </a:prstGeom>
        </p:spPr>
      </p:pic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B5799BBD-E487-4CA3-FC0A-CA7816697440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1014309" y="1605491"/>
            <a:ext cx="285012" cy="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12CACCF-98EE-8CD0-B73B-A468ACC281AB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1851519" y="1111127"/>
            <a:ext cx="0" cy="246090"/>
          </a:xfrm>
          <a:prstGeom prst="straightConnector1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45469064-8004-797A-862A-8F4183F178EA}"/>
              </a:ext>
            </a:extLst>
          </p:cNvPr>
          <p:cNvSpPr txBox="1"/>
          <p:nvPr/>
        </p:nvSpPr>
        <p:spPr>
          <a:xfrm>
            <a:off x="1326429" y="1385163"/>
            <a:ext cx="953280" cy="415498"/>
          </a:xfrm>
          <a:prstGeom prst="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700"/>
              <a:t>Machine learning model </a:t>
            </a:r>
          </a:p>
          <a:p>
            <a:pPr algn="ctr"/>
            <a:r>
              <a:rPr lang="en-GB" sz="700" dirty="0"/>
              <a:t>(random forest)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796DE86-1A3B-DA64-32B3-5597923A4A8C}"/>
              </a:ext>
            </a:extLst>
          </p:cNvPr>
          <p:cNvSpPr txBox="1"/>
          <p:nvPr/>
        </p:nvSpPr>
        <p:spPr>
          <a:xfrm>
            <a:off x="121185" y="1923686"/>
            <a:ext cx="10678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/>
              <a:t>Spectral fingerprint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638D1FA5-223F-8B83-7039-8315F4B5B08B}"/>
              </a:ext>
            </a:extLst>
          </p:cNvPr>
          <p:cNvSpPr txBox="1"/>
          <p:nvPr/>
        </p:nvSpPr>
        <p:spPr>
          <a:xfrm>
            <a:off x="1963252" y="1906725"/>
            <a:ext cx="10678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" dirty="0"/>
              <a:t>Predictive performances</a:t>
            </a:r>
          </a:p>
        </p:txBody>
      </p:sp>
      <p:cxnSp>
        <p:nvCxnSpPr>
          <p:cNvPr id="54" name="Connecteur : en angle 53">
            <a:extLst>
              <a:ext uri="{FF2B5EF4-FFF2-40B4-BE49-F238E27FC236}">
                <a16:creationId xmlns:a16="http://schemas.microsoft.com/office/drawing/2014/main" id="{C10371F2-CA46-FF99-4087-637544D275E7}"/>
              </a:ext>
            </a:extLst>
          </p:cNvPr>
          <p:cNvCxnSpPr>
            <a:cxnSpLocks/>
            <a:stCxn id="50" idx="2"/>
            <a:endCxn id="52" idx="1"/>
          </p:cNvCxnSpPr>
          <p:nvPr/>
        </p:nvCxnSpPr>
        <p:spPr>
          <a:xfrm rot="16200000" flipH="1">
            <a:off x="1783962" y="1819767"/>
            <a:ext cx="198397" cy="160183"/>
          </a:xfrm>
          <a:prstGeom prst="bentConnector2">
            <a:avLst/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eur : en angle 63">
            <a:extLst>
              <a:ext uri="{FF2B5EF4-FFF2-40B4-BE49-F238E27FC236}">
                <a16:creationId xmlns:a16="http://schemas.microsoft.com/office/drawing/2014/main" id="{EDBADB0F-1DD2-052A-E126-BC4BD98ABAC1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rot="16200000" flipH="1">
            <a:off x="1366702" y="349311"/>
            <a:ext cx="416196" cy="553437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6766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31</Words>
  <Application>Microsoft Office PowerPoint</Application>
  <PresentationFormat>Personnalisé</PresentationFormat>
  <Paragraphs>11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David</dc:creator>
  <cp:lastModifiedBy>MARTIN David</cp:lastModifiedBy>
  <cp:revision>11</cp:revision>
  <cp:lastPrinted>2026-05-27T10:00:54Z</cp:lastPrinted>
  <dcterms:created xsi:type="dcterms:W3CDTF">2026-05-27T09:19:35Z</dcterms:created>
  <dcterms:modified xsi:type="dcterms:W3CDTF">2026-05-27T10:09:05Z</dcterms:modified>
</cp:coreProperties>
</file>